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78" r:id="rId7"/>
    <p:sldId id="286" r:id="rId8"/>
    <p:sldId id="287" r:id="rId9"/>
    <p:sldId id="271" r:id="rId10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89" d="100"/>
          <a:sy n="89" d="100"/>
        </p:scale>
        <p:origin x="68" y="7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90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C9A8164C-08EC-4F07-B9DE-FE763936A21A}" type="datetime1">
              <a:rPr lang="it-IT" smtClean="0"/>
              <a:t>28/04/2024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28EEFA9E-C190-4F5C-8394-BD5F1CD55C02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E97D4A57-7172-4643-93A6-10D6606B49BC}" type="datetime1">
              <a:rPr lang="it-IT" smtClean="0"/>
              <a:pPr/>
              <a:t>28/04/2024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22289C57-55D7-40A4-A101-E74FAC7A092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2289C57-55D7-40A4-A101-E74FAC7A092B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2289C57-55D7-40A4-A101-E74FAC7A092B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2289C57-55D7-40A4-A101-E74FAC7A092B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2289C57-55D7-40A4-A101-E74FAC7A092B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5536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2289C57-55D7-40A4-A101-E74FAC7A092B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078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2289C57-55D7-40A4-A101-E74FAC7A092B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it-IT" sz="3600" spc="15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it-IT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it-IT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nettore diritto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ttore diritto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it-IT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it-IT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contenuto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nettore diritto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gnaposto piè di pagina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ruzione di sezion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it-IT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it-IT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it-IT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it-IT" sz="2000" b="1"/>
            </a:lvl2pPr>
            <a:lvl3pPr marL="914400" indent="0">
              <a:buNone/>
              <a:defRPr lang="it-IT" sz="1800" b="1"/>
            </a:lvl3pPr>
            <a:lvl4pPr marL="1371600" indent="0">
              <a:buNone/>
              <a:defRPr lang="it-IT" sz="1600" b="1"/>
            </a:lvl4pPr>
            <a:lvl5pPr marL="1828800" indent="0">
              <a:buNone/>
              <a:defRPr lang="it-IT" sz="1600" b="1"/>
            </a:lvl5pPr>
            <a:lvl6pPr marL="2286000" indent="0">
              <a:buNone/>
              <a:defRPr lang="it-IT" sz="1600" b="1"/>
            </a:lvl6pPr>
            <a:lvl7pPr marL="2743200" indent="0">
              <a:buNone/>
              <a:defRPr lang="it-IT" sz="1600" b="1"/>
            </a:lvl7pPr>
            <a:lvl8pPr marL="3200400" indent="0">
              <a:buNone/>
              <a:defRPr lang="it-IT" sz="1600" b="1"/>
            </a:lvl8pPr>
            <a:lvl9pPr marL="3657600" indent="0">
              <a:buNone/>
              <a:defRPr lang="it-IT" sz="1600" b="1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it-IT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it-IT" sz="2000" b="1"/>
            </a:lvl2pPr>
            <a:lvl3pPr marL="914400" indent="0">
              <a:buNone/>
              <a:defRPr lang="it-IT" sz="1800" b="1"/>
            </a:lvl3pPr>
            <a:lvl4pPr marL="1371600" indent="0">
              <a:buNone/>
              <a:defRPr lang="it-IT" sz="1600" b="1"/>
            </a:lvl4pPr>
            <a:lvl5pPr marL="1828800" indent="0">
              <a:buNone/>
              <a:defRPr lang="it-IT" sz="1600" b="1"/>
            </a:lvl5pPr>
            <a:lvl6pPr marL="2286000" indent="0">
              <a:buNone/>
              <a:defRPr lang="it-IT" sz="1600" b="1"/>
            </a:lvl6pPr>
            <a:lvl7pPr marL="2743200" indent="0">
              <a:buNone/>
              <a:defRPr lang="it-IT" sz="1600" b="1"/>
            </a:lvl7pPr>
            <a:lvl8pPr marL="3200400" indent="0">
              <a:buNone/>
              <a:defRPr lang="it-IT" sz="1600" b="1"/>
            </a:lvl8pPr>
            <a:lvl9pPr marL="3657600" indent="0">
              <a:buNone/>
              <a:defRPr lang="it-IT" sz="1600" b="1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9" name="Segnaposto contenuto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3" name="Segnaposto piè di pagina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it-IT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Segnaposto testo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it-IT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it-IT" sz="2000" b="1"/>
            </a:lvl2pPr>
            <a:lvl3pPr marL="914400" indent="0">
              <a:buNone/>
              <a:defRPr lang="it-IT" sz="1800" b="1"/>
            </a:lvl3pPr>
            <a:lvl4pPr marL="1371600" indent="0">
              <a:buNone/>
              <a:defRPr lang="it-IT" sz="1600" b="1"/>
            </a:lvl4pPr>
            <a:lvl5pPr marL="1828800" indent="0">
              <a:buNone/>
              <a:defRPr lang="it-IT" sz="1600" b="1"/>
            </a:lvl5pPr>
            <a:lvl6pPr marL="2286000" indent="0">
              <a:buNone/>
              <a:defRPr lang="it-IT" sz="1600" b="1"/>
            </a:lvl6pPr>
            <a:lvl7pPr marL="2743200" indent="0">
              <a:buNone/>
              <a:defRPr lang="it-IT" sz="1600" b="1"/>
            </a:lvl7pPr>
            <a:lvl8pPr marL="3200400" indent="0">
              <a:buNone/>
              <a:defRPr lang="it-IT" sz="1600" b="1"/>
            </a:lvl8pPr>
            <a:lvl9pPr marL="3657600" indent="0">
              <a:buNone/>
              <a:defRPr lang="it-IT" sz="1600" b="1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5" name="Segnaposto contenuto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it-IT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it-IT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it-IT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it-IT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sp>
        <p:nvSpPr>
          <p:cNvPr id="17" name="Segnaposto testo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it-IT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it-IT" sz="2000" b="1"/>
            </a:lvl2pPr>
            <a:lvl3pPr marL="914400" indent="0">
              <a:buNone/>
              <a:defRPr lang="it-IT" sz="1800" b="1"/>
            </a:lvl3pPr>
            <a:lvl4pPr marL="1371600" indent="0">
              <a:buNone/>
              <a:defRPr lang="it-IT" sz="1600" b="1"/>
            </a:lvl4pPr>
            <a:lvl5pPr marL="1828800" indent="0">
              <a:buNone/>
              <a:defRPr lang="it-IT" sz="1600" b="1"/>
            </a:lvl5pPr>
            <a:lvl6pPr marL="2286000" indent="0">
              <a:buNone/>
              <a:defRPr lang="it-IT" sz="1600" b="1"/>
            </a:lvl6pPr>
            <a:lvl7pPr marL="2743200" indent="0">
              <a:buNone/>
              <a:defRPr lang="it-IT" sz="1600" b="1"/>
            </a:lvl7pPr>
            <a:lvl8pPr marL="3200400" indent="0">
              <a:buNone/>
              <a:defRPr lang="it-IT" sz="1600" b="1"/>
            </a:lvl8pPr>
            <a:lvl9pPr marL="3657600" indent="0">
              <a:buNone/>
              <a:defRPr lang="it-IT" sz="1600" b="1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3" name="Segnaposto contenuto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9" name="Segnaposto piè di pagina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20" name="Segnaposto numero diapositiva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pi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it-IT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it-IT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it-IT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contenuto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tabel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una tabella</a:t>
            </a:r>
            <a:endParaRPr lang="it-IT" dirty="0"/>
          </a:p>
        </p:txBody>
      </p:sp>
      <p:sp>
        <p:nvSpPr>
          <p:cNvPr id="10" name="Segnaposto piè di pagina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11" name="Segnaposto numero diapositiva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nettore diritto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it-IT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it-IT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it-IT" sz="2000" b="1"/>
            </a:lvl2pPr>
            <a:lvl3pPr marL="914400" indent="0">
              <a:buNone/>
              <a:defRPr lang="it-IT" sz="1800" b="1"/>
            </a:lvl3pPr>
            <a:lvl4pPr marL="1371600" indent="0">
              <a:buNone/>
              <a:defRPr lang="it-IT" sz="1600" b="1"/>
            </a:lvl4pPr>
            <a:lvl5pPr marL="1828800" indent="0">
              <a:buNone/>
              <a:defRPr lang="it-IT" sz="1600" b="1"/>
            </a:lvl5pPr>
            <a:lvl6pPr marL="2286000" indent="0">
              <a:buNone/>
              <a:defRPr lang="it-IT" sz="1600" b="1"/>
            </a:lvl6pPr>
            <a:lvl7pPr marL="2743200" indent="0">
              <a:buNone/>
              <a:defRPr lang="it-IT" sz="1600" b="1"/>
            </a:lvl7pPr>
            <a:lvl8pPr marL="3200400" indent="0">
              <a:buNone/>
              <a:defRPr lang="it-IT" sz="1600" b="1"/>
            </a:lvl8pPr>
            <a:lvl9pPr marL="3657600" indent="0">
              <a:buNone/>
              <a:defRPr lang="it-IT" sz="1600" b="1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it-IT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it-IT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it-IT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it-IT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it-IT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it-IT" sz="2000" b="1"/>
            </a:lvl2pPr>
            <a:lvl3pPr marL="914400" indent="0">
              <a:buNone/>
              <a:defRPr lang="it-IT" sz="1800" b="1"/>
            </a:lvl3pPr>
            <a:lvl4pPr marL="1371600" indent="0">
              <a:buNone/>
              <a:defRPr lang="it-IT" sz="1600" b="1"/>
            </a:lvl4pPr>
            <a:lvl5pPr marL="1828800" indent="0">
              <a:buNone/>
              <a:defRPr lang="it-IT" sz="1600" b="1"/>
            </a:lvl5pPr>
            <a:lvl6pPr marL="2286000" indent="0">
              <a:buNone/>
              <a:defRPr lang="it-IT" sz="1600" b="1"/>
            </a:lvl6pPr>
            <a:lvl7pPr marL="2743200" indent="0">
              <a:buNone/>
              <a:defRPr lang="it-IT" sz="1600" b="1"/>
            </a:lvl7pPr>
            <a:lvl8pPr marL="3200400" indent="0">
              <a:buNone/>
              <a:defRPr lang="it-IT" sz="1600" b="1"/>
            </a:lvl8pPr>
            <a:lvl9pPr marL="3657600" indent="0">
              <a:buNone/>
              <a:defRPr lang="it-IT" sz="1600" b="1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it-IT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1800" spc="5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 dirty="0"/>
              <a:t>TITOLO 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it-IT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tabel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una tabella</a:t>
            </a:r>
            <a:endParaRPr lang="it-IT" dirty="0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 dirty="0"/>
              <a:t>TITOLO PRESENTAZIONE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iusur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it-IT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it-IT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rtl="0"/>
            <a:r>
              <a:rPr lang="it-IT"/>
              <a:t>Fare clic per inserire il sottotitolo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it-IT" sz="900"/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11" name="Segnaposto numero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it-IT" sz="900"/>
            </a:lvl1pPr>
          </a:lstStyle>
          <a:p>
            <a:pPr rtl="0"/>
            <a:fld id="{A49DFD55-3C28-40EF-9E31-A92D2E4017FF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HIGHLY AVAILABLE, CAUSALLY ORDERED GROUP CHAT</a:t>
            </a:r>
            <a:br>
              <a:rPr lang="it-IT" dirty="0"/>
            </a:br>
            <a:br>
              <a:rPr lang="it-IT" dirty="0"/>
            </a:br>
            <a:r>
              <a:rPr lang="it-IT" sz="1050" dirty="0"/>
              <a:t>https://github.com/alessandrosaccone/group_chat.git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OVERVIEW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2709732"/>
            <a:ext cx="4260056" cy="3269589"/>
          </a:xfrm>
        </p:spPr>
        <p:txBody>
          <a:bodyPr rtlCol="0">
            <a:normAutofit fontScale="85000" lnSpcReduction="10000"/>
          </a:bodyPr>
          <a:lstStyle>
            <a:defPPr>
              <a:defRPr lang="it-IT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 err="1"/>
              <a:t>Fully</a:t>
            </a:r>
            <a:r>
              <a:rPr lang="it-IT" dirty="0"/>
              <a:t> </a:t>
            </a:r>
            <a:r>
              <a:rPr lang="it-IT" dirty="0" err="1"/>
              <a:t>distributed</a:t>
            </a:r>
            <a:r>
              <a:rPr lang="it-IT" dirty="0"/>
              <a:t> group chat </a:t>
            </a:r>
            <a:r>
              <a:rPr lang="it-IT" dirty="0" err="1"/>
              <a:t>application</a:t>
            </a:r>
            <a:r>
              <a:rPr lang="it-IT" dirty="0"/>
              <a:t> (no </a:t>
            </a:r>
            <a:r>
              <a:rPr lang="it-IT" dirty="0" err="1"/>
              <a:t>centralized</a:t>
            </a:r>
            <a:r>
              <a:rPr lang="it-IT" dirty="0"/>
              <a:t> server)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/>
              <a:t>User can create, delete rooms and </a:t>
            </a:r>
            <a:r>
              <a:rPr lang="it-IT" dirty="0" err="1"/>
              <a:t>send</a:t>
            </a:r>
            <a:r>
              <a:rPr lang="it-IT" dirty="0"/>
              <a:t> </a:t>
            </a:r>
            <a:r>
              <a:rPr lang="it-IT" dirty="0" err="1"/>
              <a:t>messages</a:t>
            </a:r>
            <a:endParaRPr lang="it-IT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 err="1"/>
              <a:t>Messages</a:t>
            </a:r>
            <a:r>
              <a:rPr lang="it-IT" dirty="0"/>
              <a:t> </a:t>
            </a:r>
            <a:r>
              <a:rPr lang="it-IT" dirty="0" err="1"/>
              <a:t>delivered</a:t>
            </a:r>
            <a:r>
              <a:rPr lang="it-IT" dirty="0"/>
              <a:t> in </a:t>
            </a:r>
            <a:r>
              <a:rPr lang="it-IT" dirty="0" err="1"/>
              <a:t>causal</a:t>
            </a:r>
            <a:r>
              <a:rPr lang="it-IT" dirty="0"/>
              <a:t> </a:t>
            </a:r>
            <a:r>
              <a:rPr lang="it-IT" dirty="0" err="1"/>
              <a:t>order</a:t>
            </a:r>
            <a:r>
              <a:rPr lang="it-IT" dirty="0"/>
              <a:t> </a:t>
            </a:r>
            <a:r>
              <a:rPr lang="it-IT" dirty="0" err="1"/>
              <a:t>basing</a:t>
            </a:r>
            <a:r>
              <a:rPr lang="it-IT" dirty="0"/>
              <a:t> on a </a:t>
            </a:r>
            <a:r>
              <a:rPr lang="it-IT" dirty="0" err="1"/>
              <a:t>vector</a:t>
            </a:r>
            <a:r>
              <a:rPr lang="it-IT" dirty="0"/>
              <a:t> clock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 err="1"/>
              <a:t>Assumption</a:t>
            </a:r>
            <a:r>
              <a:rPr lang="it-IT" dirty="0"/>
              <a:t>: clients and link are </a:t>
            </a:r>
            <a:r>
              <a:rPr lang="it-IT" dirty="0" err="1"/>
              <a:t>reliable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clients can join and </a:t>
            </a:r>
            <a:r>
              <a:rPr lang="it-IT" dirty="0" err="1"/>
              <a:t>leave</a:t>
            </a:r>
            <a:r>
              <a:rPr lang="it-IT" dirty="0"/>
              <a:t> the network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time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it-IT" dirty="0"/>
          </a:p>
          <a:p>
            <a:pPr rtl="0"/>
            <a:endParaRPr lang="it-IT" dirty="0"/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A49DFD55-3C28-40EF-9E31-A92D2E4017FF}" type="slidenum">
              <a:rPr lang="it-IT" smtClean="0"/>
              <a:pPr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NETWORK INITIALIZATION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C1AB977-E859-C925-8671-6DA9C47A05D1}"/>
              </a:ext>
            </a:extLst>
          </p:cNvPr>
          <p:cNvSpPr/>
          <p:nvPr/>
        </p:nvSpPr>
        <p:spPr>
          <a:xfrm>
            <a:off x="414338" y="935831"/>
            <a:ext cx="6172200" cy="51363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onnettore 4">
            <a:extLst>
              <a:ext uri="{FF2B5EF4-FFF2-40B4-BE49-F238E27FC236}">
                <a16:creationId xmlns:a16="http://schemas.microsoft.com/office/drawing/2014/main" id="{FD5571E3-B7D5-9FFD-C731-824749D3FF85}"/>
              </a:ext>
            </a:extLst>
          </p:cNvPr>
          <p:cNvSpPr/>
          <p:nvPr/>
        </p:nvSpPr>
        <p:spPr>
          <a:xfrm>
            <a:off x="1100138" y="1607345"/>
            <a:ext cx="750094" cy="77866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onnettore 5">
            <a:extLst>
              <a:ext uri="{FF2B5EF4-FFF2-40B4-BE49-F238E27FC236}">
                <a16:creationId xmlns:a16="http://schemas.microsoft.com/office/drawing/2014/main" id="{FF3BCA9D-4626-21ED-7DC5-881CDD598818}"/>
              </a:ext>
            </a:extLst>
          </p:cNvPr>
          <p:cNvSpPr/>
          <p:nvPr/>
        </p:nvSpPr>
        <p:spPr>
          <a:xfrm>
            <a:off x="4795838" y="1607345"/>
            <a:ext cx="750094" cy="77866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6440ECAF-512C-6892-7FD8-556493541FAF}"/>
              </a:ext>
            </a:extLst>
          </p:cNvPr>
          <p:cNvSpPr/>
          <p:nvPr/>
        </p:nvSpPr>
        <p:spPr>
          <a:xfrm>
            <a:off x="3125391" y="4067175"/>
            <a:ext cx="750094" cy="77866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C33A579-657C-67F0-7749-4F9EB743B4E2}"/>
              </a:ext>
            </a:extLst>
          </p:cNvPr>
          <p:cNvSpPr/>
          <p:nvPr/>
        </p:nvSpPr>
        <p:spPr>
          <a:xfrm>
            <a:off x="1735931" y="1464469"/>
            <a:ext cx="385763" cy="142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22A3092-64B1-CEE7-5030-949DE654761A}"/>
              </a:ext>
            </a:extLst>
          </p:cNvPr>
          <p:cNvSpPr/>
          <p:nvPr/>
        </p:nvSpPr>
        <p:spPr>
          <a:xfrm>
            <a:off x="4467225" y="1464469"/>
            <a:ext cx="385763" cy="142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E8D286-A024-ED27-B392-EAD971FB9044}"/>
              </a:ext>
            </a:extLst>
          </p:cNvPr>
          <p:cNvSpPr/>
          <p:nvPr/>
        </p:nvSpPr>
        <p:spPr>
          <a:xfrm>
            <a:off x="3875485" y="3924299"/>
            <a:ext cx="385763" cy="142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EF8B3271-8BDC-B0F2-168F-FAEC56A489F0}"/>
              </a:ext>
            </a:extLst>
          </p:cNvPr>
          <p:cNvCxnSpPr>
            <a:cxnSpLocks/>
            <a:stCxn id="5" idx="6"/>
            <a:endCxn id="9" idx="1"/>
          </p:cNvCxnSpPr>
          <p:nvPr/>
        </p:nvCxnSpPr>
        <p:spPr>
          <a:xfrm flipV="1">
            <a:off x="1850232" y="1535907"/>
            <a:ext cx="2616993" cy="460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EC0CAAA-A10F-31D8-120C-0C711BCD646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850232" y="1996679"/>
            <a:ext cx="2025253" cy="192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reccia bidirezionale orizzontale 20">
            <a:extLst>
              <a:ext uri="{FF2B5EF4-FFF2-40B4-BE49-F238E27FC236}">
                <a16:creationId xmlns:a16="http://schemas.microsoft.com/office/drawing/2014/main" id="{B6CE26DD-5229-4F9E-452A-1C4C5EA24AE0}"/>
              </a:ext>
            </a:extLst>
          </p:cNvPr>
          <p:cNvSpPr/>
          <p:nvPr/>
        </p:nvSpPr>
        <p:spPr>
          <a:xfrm rot="2890249">
            <a:off x="1330107" y="3123337"/>
            <a:ext cx="2316174" cy="191994"/>
          </a:xfrm>
          <a:prstGeom prst="left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SOCKET</a:t>
            </a:r>
          </a:p>
        </p:txBody>
      </p:sp>
      <p:sp>
        <p:nvSpPr>
          <p:cNvPr id="22" name="Freccia bidirezionale orizzontale 21">
            <a:extLst>
              <a:ext uri="{FF2B5EF4-FFF2-40B4-BE49-F238E27FC236}">
                <a16:creationId xmlns:a16="http://schemas.microsoft.com/office/drawing/2014/main" id="{1E5EE2EC-3E87-0BF1-EEC2-820AF40CBBEE}"/>
              </a:ext>
            </a:extLst>
          </p:cNvPr>
          <p:cNvSpPr/>
          <p:nvPr/>
        </p:nvSpPr>
        <p:spPr>
          <a:xfrm>
            <a:off x="2291937" y="1996598"/>
            <a:ext cx="2316174" cy="191994"/>
          </a:xfrm>
          <a:prstGeom prst="left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SOCKET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CHAT CREATION PROTOCOL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81882B1-3D33-C27B-582D-D6D744275419}"/>
              </a:ext>
            </a:extLst>
          </p:cNvPr>
          <p:cNvSpPr/>
          <p:nvPr/>
        </p:nvSpPr>
        <p:spPr>
          <a:xfrm>
            <a:off x="414338" y="935831"/>
            <a:ext cx="6172200" cy="51363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nettore 3">
            <a:extLst>
              <a:ext uri="{FF2B5EF4-FFF2-40B4-BE49-F238E27FC236}">
                <a16:creationId xmlns:a16="http://schemas.microsoft.com/office/drawing/2014/main" id="{255082D8-8B0E-B58A-D25B-B312251ECE45}"/>
              </a:ext>
            </a:extLst>
          </p:cNvPr>
          <p:cNvSpPr/>
          <p:nvPr/>
        </p:nvSpPr>
        <p:spPr>
          <a:xfrm>
            <a:off x="1200150" y="1607345"/>
            <a:ext cx="750094" cy="77866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onnettore 4">
            <a:extLst>
              <a:ext uri="{FF2B5EF4-FFF2-40B4-BE49-F238E27FC236}">
                <a16:creationId xmlns:a16="http://schemas.microsoft.com/office/drawing/2014/main" id="{F833A0D6-DF68-C00A-F88D-01291173DBB8}"/>
              </a:ext>
            </a:extLst>
          </p:cNvPr>
          <p:cNvSpPr/>
          <p:nvPr/>
        </p:nvSpPr>
        <p:spPr>
          <a:xfrm>
            <a:off x="4795838" y="1607345"/>
            <a:ext cx="750094" cy="77866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onnettore 5">
            <a:extLst>
              <a:ext uri="{FF2B5EF4-FFF2-40B4-BE49-F238E27FC236}">
                <a16:creationId xmlns:a16="http://schemas.microsoft.com/office/drawing/2014/main" id="{565C036D-A10B-3F55-7F1D-D8E7C368A841}"/>
              </a:ext>
            </a:extLst>
          </p:cNvPr>
          <p:cNvSpPr/>
          <p:nvPr/>
        </p:nvSpPr>
        <p:spPr>
          <a:xfrm>
            <a:off x="3125391" y="4067175"/>
            <a:ext cx="750094" cy="77866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3FB83516-BE39-8F59-9436-55815C488C87}"/>
              </a:ext>
            </a:extLst>
          </p:cNvPr>
          <p:cNvCxnSpPr>
            <a:cxnSpLocks/>
          </p:cNvCxnSpPr>
          <p:nvPr/>
        </p:nvCxnSpPr>
        <p:spPr>
          <a:xfrm>
            <a:off x="1950244" y="1728788"/>
            <a:ext cx="274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8C277F0-0677-34DF-9246-52F6F59C84C2}"/>
              </a:ext>
            </a:extLst>
          </p:cNvPr>
          <p:cNvSpPr txBox="1"/>
          <p:nvPr/>
        </p:nvSpPr>
        <p:spPr>
          <a:xfrm>
            <a:off x="2600842" y="1350348"/>
            <a:ext cx="1544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PROPOSED ID</a:t>
            </a:r>
          </a:p>
          <a:p>
            <a:endParaRPr lang="it-IT" dirty="0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1EE5FB03-C016-8F07-8F8B-D0E000B9641C}"/>
              </a:ext>
            </a:extLst>
          </p:cNvPr>
          <p:cNvCxnSpPr/>
          <p:nvPr/>
        </p:nvCxnSpPr>
        <p:spPr>
          <a:xfrm>
            <a:off x="1793081" y="2386013"/>
            <a:ext cx="1332310" cy="1681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1725A53-39C0-EB6F-C1B5-C47C55A3BEF9}"/>
              </a:ext>
            </a:extLst>
          </p:cNvPr>
          <p:cNvSpPr txBox="1"/>
          <p:nvPr/>
        </p:nvSpPr>
        <p:spPr>
          <a:xfrm>
            <a:off x="2325808" y="2708761"/>
            <a:ext cx="1544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PROPOSED ID</a:t>
            </a:r>
          </a:p>
          <a:p>
            <a:endParaRPr lang="it-IT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B65D370-4D78-8E72-32AB-AFE5E8499342}"/>
              </a:ext>
            </a:extLst>
          </p:cNvPr>
          <p:cNvCxnSpPr/>
          <p:nvPr/>
        </p:nvCxnSpPr>
        <p:spPr>
          <a:xfrm flipH="1">
            <a:off x="2071688" y="1996679"/>
            <a:ext cx="25717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27D560C-2CFA-33BA-7AFC-248F8EBC3A8E}"/>
              </a:ext>
            </a:extLst>
          </p:cNvPr>
          <p:cNvSpPr txBox="1"/>
          <p:nvPr/>
        </p:nvSpPr>
        <p:spPr>
          <a:xfrm>
            <a:off x="2401972" y="2018796"/>
            <a:ext cx="2184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REQUEST_REJECTED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29293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COMMUNICATION</a:t>
            </a:r>
          </a:p>
        </p:txBody>
      </p:sp>
      <p:pic>
        <p:nvPicPr>
          <p:cNvPr id="11" name="Immagine 10" descr="Immagine che contiene testo, schermata, linea, Carattere&#10;&#10;Descrizione generata automaticamente">
            <a:extLst>
              <a:ext uri="{FF2B5EF4-FFF2-40B4-BE49-F238E27FC236}">
                <a16:creationId xmlns:a16="http://schemas.microsoft.com/office/drawing/2014/main" id="{5C1EBE19-2571-264C-0FFC-4A1CCA956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8" y="1423084"/>
            <a:ext cx="6274122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7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THANKS FOR THE ATTENTION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Autofit/>
          </a:bodyPr>
          <a:lstStyle>
            <a:defPPr>
              <a:defRPr lang="it-IT"/>
            </a:defPPr>
          </a:lstStyle>
          <a:p>
            <a:pPr rtl="0"/>
            <a:endParaRPr lang="it-IT" dirty="0"/>
          </a:p>
          <a:p>
            <a:pPr rtl="0"/>
            <a:r>
              <a:rPr lang="it-IT" dirty="0"/>
              <a:t>ALGISI GIORGIO 10768558</a:t>
            </a:r>
          </a:p>
          <a:p>
            <a:pPr rtl="0"/>
            <a:r>
              <a:rPr lang="it-IT" dirty="0"/>
              <a:t>PANA MATTEO</a:t>
            </a:r>
          </a:p>
          <a:p>
            <a:pPr rtl="0"/>
            <a:r>
              <a:rPr lang="it-IT" dirty="0"/>
              <a:t>SACCONE ALESSANDRO 11013852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A49DFD55-3C28-40EF-9E31-A92D2E4017FF}" type="slidenum">
              <a:rPr lang="it-IT" smtClean="0"/>
              <a:pPr rtl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9_TF67328976_Win32" id="{5E75D752-C793-408A-B2B5-2A68FB7A8526}" vid="{70570D30-6E34-4935-9BD4-9AE704588A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Presentazione minimalista</Template>
  <TotalTime>29</TotalTime>
  <Words>105</Words>
  <Application>Microsoft Office PowerPoint</Application>
  <PresentationFormat>Widescreen</PresentationFormat>
  <Paragraphs>28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Tema di Office</vt:lpstr>
      <vt:lpstr>HIGHLY AVAILABLE, CAUSALLY ORDERED GROUP CHAT  https://github.com/alessandrosaccone/group_chat.git</vt:lpstr>
      <vt:lpstr>OVERVIEW</vt:lpstr>
      <vt:lpstr>NETWORK INITIALIZATION</vt:lpstr>
      <vt:lpstr>CHAT CREATION PROTOCOL</vt:lpstr>
      <vt:lpstr>COMMUNICATION</vt:lpstr>
      <vt:lpstr>THANKS FOR THE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HIGHLY AVAILABLE, CAUSALLY ORDERED GROUP CHAT  https://github.com/alessandrosaccone/group_chat.git</dc:title>
  <dc:creator>Alessandro Saccone</dc:creator>
  <cp:lastModifiedBy>Alessandro Saccone</cp:lastModifiedBy>
  <cp:revision>1</cp:revision>
  <dcterms:created xsi:type="dcterms:W3CDTF">2024-04-28T13:07:35Z</dcterms:created>
  <dcterms:modified xsi:type="dcterms:W3CDTF">2024-04-28T13:37:01Z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